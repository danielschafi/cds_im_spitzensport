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94660"/>
  </p:normalViewPr>
  <p:slideViewPr>
    <p:cSldViewPr snapToGrid="0">
      <p:cViewPr varScale="1">
        <p:scale>
          <a:sx n="116" d="100"/>
          <a:sy n="116" d="100"/>
        </p:scale>
        <p:origin x="108"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53B9F1-2B6D-CA90-FD9E-09A1999E29C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C6C0CB63-6FA2-4DCA-1F9D-25CED3FED7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4BA539F3-8486-9175-89A3-E76038BF53AA}"/>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5" name="Fußzeilenplatzhalter 4">
            <a:extLst>
              <a:ext uri="{FF2B5EF4-FFF2-40B4-BE49-F238E27FC236}">
                <a16:creationId xmlns:a16="http://schemas.microsoft.com/office/drawing/2014/main" id="{6046D6F6-E261-C7A1-6CCE-8B3500549B1A}"/>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EADBF664-0C5E-5D3B-DFED-F08F492772E0}"/>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444179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75ADA7-2348-F35C-57F4-9F031CA9DF8A}"/>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A67CF23E-3899-8884-CD72-CA64E51528BD}"/>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2FE06135-24FC-30FA-48DF-ABA042A7652D}"/>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5" name="Fußzeilenplatzhalter 4">
            <a:extLst>
              <a:ext uri="{FF2B5EF4-FFF2-40B4-BE49-F238E27FC236}">
                <a16:creationId xmlns:a16="http://schemas.microsoft.com/office/drawing/2014/main" id="{64B7CF64-8193-702F-602C-6D968F44E268}"/>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DABF99CC-7C7B-B15D-7A9B-79E3E3D10C73}"/>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744042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72CC8-57D4-88DE-E386-04491217C364}"/>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D94C072D-04BE-6104-D285-5D1DB7A8B2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0B09E6E3-63A7-C027-EF98-B80478417C2C}"/>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5" name="Fußzeilenplatzhalter 4">
            <a:extLst>
              <a:ext uri="{FF2B5EF4-FFF2-40B4-BE49-F238E27FC236}">
                <a16:creationId xmlns:a16="http://schemas.microsoft.com/office/drawing/2014/main" id="{BA41A7E2-A13E-773C-4B9F-27B9BE31139A}"/>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0911A994-71B6-099F-2B4A-E71D3A466957}"/>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2866981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671A33-C25D-443C-E9F6-481B9E043753}"/>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3EC171CB-BD9F-2C24-1596-C9DEED038D8F}"/>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EF65F1E1-7E19-03EE-813D-49B48AC19773}"/>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DC3C27C4-356D-BA16-6395-81944B1CA298}"/>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6" name="Fußzeilenplatzhalter 5">
            <a:extLst>
              <a:ext uri="{FF2B5EF4-FFF2-40B4-BE49-F238E27FC236}">
                <a16:creationId xmlns:a16="http://schemas.microsoft.com/office/drawing/2014/main" id="{436C09A6-562F-7F2D-AB92-B62DA9470415}"/>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6875EEA3-A17A-E07A-3F55-D6F74FE0A5E5}"/>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353141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934030-D75F-1B5C-BB35-32DD0CF3CF9B}"/>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18BDF046-54DF-39C7-C69B-C38D1F9F7A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E4C1F16-48E3-E0C8-D6FD-BAC1FBEA4D3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6FD5D996-0967-8ED0-E28B-024622E4A6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667BAB1-3EC9-0BF2-9FF7-34446BD2AA5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82CECE10-7AE9-372A-7000-3A1E7536BF61}"/>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8" name="Fußzeilenplatzhalter 7">
            <a:extLst>
              <a:ext uri="{FF2B5EF4-FFF2-40B4-BE49-F238E27FC236}">
                <a16:creationId xmlns:a16="http://schemas.microsoft.com/office/drawing/2014/main" id="{FF290CAA-EB24-3741-99F2-3126B7AAF878}"/>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46AE1993-19F9-D474-DBC2-E1EAF9BFE084}"/>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196109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840F38-BD67-DC9F-F3C5-9F342CCA566B}"/>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5B144D97-395F-738E-E7C8-FF0DFA5FA956}"/>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4" name="Fußzeilenplatzhalter 3">
            <a:extLst>
              <a:ext uri="{FF2B5EF4-FFF2-40B4-BE49-F238E27FC236}">
                <a16:creationId xmlns:a16="http://schemas.microsoft.com/office/drawing/2014/main" id="{40E52350-EC33-134D-0F39-06138C9195AF}"/>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7B9C0B1E-5582-1D7C-4F38-4BFA2B71AD3B}"/>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4239158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DEBDCE0-0177-1DC1-3FFE-8E6304C5DA4C}"/>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3" name="Fußzeilenplatzhalter 2">
            <a:extLst>
              <a:ext uri="{FF2B5EF4-FFF2-40B4-BE49-F238E27FC236}">
                <a16:creationId xmlns:a16="http://schemas.microsoft.com/office/drawing/2014/main" id="{25AC8002-B905-1BB8-219F-3479834E5327}"/>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0C1AFE58-9289-CAFC-F5EB-0475DB98AFA3}"/>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1915543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3A833C-FA39-EFBC-D1BB-3796ABCC540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0D4E5907-2D38-D26D-39C8-531A603CBB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D6C389D5-6925-3933-75F0-E4A37E141F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6AE2CE8-8A6C-2FE9-22FC-2FE7EA5024BD}"/>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6" name="Fußzeilenplatzhalter 5">
            <a:extLst>
              <a:ext uri="{FF2B5EF4-FFF2-40B4-BE49-F238E27FC236}">
                <a16:creationId xmlns:a16="http://schemas.microsoft.com/office/drawing/2014/main" id="{96F88FD2-5FBE-FC22-3033-89967113EC2D}"/>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A1090978-0498-1B68-FCBC-98592CAEE1F0}"/>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1776657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94AC96-75DE-C7D2-2477-017CE4C73FE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F614471B-5D3D-CFD1-7225-4CCADAA66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9BCEC62F-A48C-1223-974C-94939360F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E59CE1D-8EC9-117C-41C7-EA2737957A55}"/>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6" name="Fußzeilenplatzhalter 5">
            <a:extLst>
              <a:ext uri="{FF2B5EF4-FFF2-40B4-BE49-F238E27FC236}">
                <a16:creationId xmlns:a16="http://schemas.microsoft.com/office/drawing/2014/main" id="{F8308C8A-6CAD-AC2C-F660-BE85B03729A5}"/>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D802646C-AFBD-19BE-266D-25E22422AC82}"/>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2469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877FA9-9A9E-2CFF-1166-5C1D913162CD}"/>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E461C041-7DDF-3EAA-ACAD-127E2205BAF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AF6D856E-7F99-81B1-BECA-F509C120DBA5}"/>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5" name="Fußzeilenplatzhalter 4">
            <a:extLst>
              <a:ext uri="{FF2B5EF4-FFF2-40B4-BE49-F238E27FC236}">
                <a16:creationId xmlns:a16="http://schemas.microsoft.com/office/drawing/2014/main" id="{07429A3A-F9C7-C666-1063-117512FAD27B}"/>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3CB5C83F-D8CC-AC81-FCC6-8850BAF124A7}"/>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220951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86B56F7D-0A31-0CF6-279C-6290AF001AD5}"/>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6D7ADA7C-D5DD-B033-E511-4A5D1E590BF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D25E30D0-2FF4-F0DB-D281-134BCAE03DEC}"/>
              </a:ext>
            </a:extLst>
          </p:cNvPr>
          <p:cNvSpPr>
            <a:spLocks noGrp="1"/>
          </p:cNvSpPr>
          <p:nvPr>
            <p:ph type="dt" sz="half" idx="10"/>
          </p:nvPr>
        </p:nvSpPr>
        <p:spPr/>
        <p:txBody>
          <a:bodyPr/>
          <a:lstStyle/>
          <a:p>
            <a:fld id="{FBCDFA95-46BD-4A37-B9CF-F4AF63888681}" type="datetimeFigureOut">
              <a:rPr lang="de-CH" smtClean="0"/>
              <a:t>12.11.2025</a:t>
            </a:fld>
            <a:endParaRPr lang="de-CH"/>
          </a:p>
        </p:txBody>
      </p:sp>
      <p:sp>
        <p:nvSpPr>
          <p:cNvPr id="5" name="Fußzeilenplatzhalter 4">
            <a:extLst>
              <a:ext uri="{FF2B5EF4-FFF2-40B4-BE49-F238E27FC236}">
                <a16:creationId xmlns:a16="http://schemas.microsoft.com/office/drawing/2014/main" id="{A5AE6A8C-BDE4-435E-2BB6-EBB3E06760B1}"/>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76549207-8900-6529-2988-9F8DE7F63371}"/>
              </a:ext>
            </a:extLst>
          </p:cNvPr>
          <p:cNvSpPr>
            <a:spLocks noGrp="1"/>
          </p:cNvSpPr>
          <p:nvPr>
            <p:ph type="sldNum" sz="quarter" idx="12"/>
          </p:nvPr>
        </p:nvSpPr>
        <p:spPr/>
        <p:txBody>
          <a:bodyPr/>
          <a:lstStyle/>
          <a:p>
            <a:fld id="{83C19D20-2EB0-4E09-951B-089EA9E4ED2D}" type="slidenum">
              <a:rPr lang="de-CH" smtClean="0"/>
              <a:t>‹Nr.›</a:t>
            </a:fld>
            <a:endParaRPr lang="de-CH"/>
          </a:p>
        </p:txBody>
      </p:sp>
    </p:spTree>
    <p:extLst>
      <p:ext uri="{BB962C8B-B14F-4D97-AF65-F5344CB8AC3E}">
        <p14:creationId xmlns:p14="http://schemas.microsoft.com/office/powerpoint/2010/main" val="3674579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466FA3F-C6CC-78B5-DEDB-D43EDED847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93A0E8D0-F508-2E0A-4FCB-4D27FD3DF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247A6999-C7C4-2192-C271-BE62E6AB54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CDFA95-46BD-4A37-B9CF-F4AF63888681}" type="datetimeFigureOut">
              <a:rPr lang="de-CH" smtClean="0"/>
              <a:t>12.11.2025</a:t>
            </a:fld>
            <a:endParaRPr lang="de-CH"/>
          </a:p>
        </p:txBody>
      </p:sp>
      <p:sp>
        <p:nvSpPr>
          <p:cNvPr id="5" name="Fußzeilenplatzhalter 4">
            <a:extLst>
              <a:ext uri="{FF2B5EF4-FFF2-40B4-BE49-F238E27FC236}">
                <a16:creationId xmlns:a16="http://schemas.microsoft.com/office/drawing/2014/main" id="{AF804144-3659-5D68-7A1F-C1569DC84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866014C6-FA9F-E416-2A26-06069E70D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C19D20-2EB0-4E09-951B-089EA9E4ED2D}" type="slidenum">
              <a:rPr lang="de-CH" smtClean="0"/>
              <a:t>‹Nr.›</a:t>
            </a:fld>
            <a:endParaRPr lang="de-CH"/>
          </a:p>
        </p:txBody>
      </p:sp>
    </p:spTree>
    <p:extLst>
      <p:ext uri="{BB962C8B-B14F-4D97-AF65-F5344CB8AC3E}">
        <p14:creationId xmlns:p14="http://schemas.microsoft.com/office/powerpoint/2010/main" val="3085796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mailto:alexander.vanschie@fhgr.ch"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931FE7-EEB0-9D59-11E9-1CAF4DC07A15}"/>
              </a:ext>
            </a:extLst>
          </p:cNvPr>
          <p:cNvSpPr>
            <a:spLocks noGrp="1"/>
          </p:cNvSpPr>
          <p:nvPr>
            <p:ph type="ctrTitle"/>
          </p:nvPr>
        </p:nvSpPr>
        <p:spPr/>
        <p:txBody>
          <a:bodyPr/>
          <a:lstStyle/>
          <a:p>
            <a:r>
              <a:rPr lang="de-CH" dirty="0"/>
              <a:t>Data Science im Spitzensport</a:t>
            </a:r>
          </a:p>
        </p:txBody>
      </p:sp>
      <p:sp>
        <p:nvSpPr>
          <p:cNvPr id="3" name="Untertitel 2">
            <a:extLst>
              <a:ext uri="{FF2B5EF4-FFF2-40B4-BE49-F238E27FC236}">
                <a16:creationId xmlns:a16="http://schemas.microsoft.com/office/drawing/2014/main" id="{1A741C80-9165-76FD-E476-D1F9A2FC98E4}"/>
              </a:ext>
            </a:extLst>
          </p:cNvPr>
          <p:cNvSpPr>
            <a:spLocks noGrp="1"/>
          </p:cNvSpPr>
          <p:nvPr>
            <p:ph type="subTitle" idx="1"/>
          </p:nvPr>
        </p:nvSpPr>
        <p:spPr/>
        <p:txBody>
          <a:bodyPr/>
          <a:lstStyle/>
          <a:p>
            <a:r>
              <a:rPr lang="de-CH" dirty="0"/>
              <a:t>Sportart: Ultramarathon</a:t>
            </a:r>
          </a:p>
        </p:txBody>
      </p:sp>
    </p:spTree>
    <p:extLst>
      <p:ext uri="{BB962C8B-B14F-4D97-AF65-F5344CB8AC3E}">
        <p14:creationId xmlns:p14="http://schemas.microsoft.com/office/powerpoint/2010/main" val="2350250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Profile of the Ultra-Trail du Mont-Blanc (UTMB) race for the 2018 edition. The profile shows checkpoints (below, in capital letters) with corresponding time barriers (below, in red) and services available (above, in boxes), distances between aid stations (below, in blue boxes) and cumulative (below, in blue). The vertical axis represents the elevation.">
            <a:extLst>
              <a:ext uri="{FF2B5EF4-FFF2-40B4-BE49-F238E27FC236}">
                <a16:creationId xmlns:a16="http://schemas.microsoft.com/office/drawing/2014/main" id="{CDB3DA7A-2D1F-BD17-8BBB-88D928CE04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3572"/>
          <a:stretch>
            <a:fillRect/>
          </a:stretch>
        </p:blipFill>
        <p:spPr bwMode="auto">
          <a:xfrm>
            <a:off x="0" y="3010195"/>
            <a:ext cx="12192000" cy="3847805"/>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12EDABF3-65F8-EDE5-3419-C24085B846A4}"/>
              </a:ext>
            </a:extLst>
          </p:cNvPr>
          <p:cNvSpPr>
            <a:spLocks noGrp="1"/>
          </p:cNvSpPr>
          <p:nvPr>
            <p:ph type="title"/>
          </p:nvPr>
        </p:nvSpPr>
        <p:spPr/>
        <p:txBody>
          <a:bodyPr/>
          <a:lstStyle/>
          <a:p>
            <a:r>
              <a:rPr lang="de-CH" dirty="0"/>
              <a:t>Was ist ein Ultramarathon?</a:t>
            </a:r>
          </a:p>
        </p:txBody>
      </p:sp>
      <p:sp>
        <p:nvSpPr>
          <p:cNvPr id="3" name="Inhaltsplatzhalter 2">
            <a:extLst>
              <a:ext uri="{FF2B5EF4-FFF2-40B4-BE49-F238E27FC236}">
                <a16:creationId xmlns:a16="http://schemas.microsoft.com/office/drawing/2014/main" id="{8C299C7F-32E5-AF56-E1F8-C1AABCEC12DC}"/>
              </a:ext>
            </a:extLst>
          </p:cNvPr>
          <p:cNvSpPr>
            <a:spLocks noGrp="1"/>
          </p:cNvSpPr>
          <p:nvPr>
            <p:ph idx="1"/>
          </p:nvPr>
        </p:nvSpPr>
        <p:spPr/>
        <p:txBody>
          <a:bodyPr/>
          <a:lstStyle/>
          <a:p>
            <a:r>
              <a:rPr lang="de-CH" dirty="0"/>
              <a:t>Laufevent über die Marathon-Distanz hinaus</a:t>
            </a:r>
          </a:p>
          <a:p>
            <a:r>
              <a:rPr lang="de-CH" dirty="0"/>
              <a:t>Typischerweise in einem Abwechslungsreichen Gelände (Alpen etc.)</a:t>
            </a:r>
          </a:p>
          <a:p>
            <a:r>
              <a:rPr lang="de-CH" dirty="0"/>
              <a:t>Kombination verschiedener Disziplinen (Laufen, Wandern, Essen)</a:t>
            </a:r>
          </a:p>
          <a:p>
            <a:r>
              <a:rPr lang="de-CH" dirty="0"/>
              <a:t>Laufzeit von mehreren Stunden bis zu mehreren Tagen</a:t>
            </a:r>
          </a:p>
        </p:txBody>
      </p:sp>
    </p:spTree>
    <p:extLst>
      <p:ext uri="{BB962C8B-B14F-4D97-AF65-F5344CB8AC3E}">
        <p14:creationId xmlns:p14="http://schemas.microsoft.com/office/powerpoint/2010/main" val="1524698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B46FF1-5BC7-598B-6967-CB6B3827E0C3}"/>
              </a:ext>
            </a:extLst>
          </p:cNvPr>
          <p:cNvSpPr>
            <a:spLocks noGrp="1"/>
          </p:cNvSpPr>
          <p:nvPr>
            <p:ph type="title"/>
          </p:nvPr>
        </p:nvSpPr>
        <p:spPr/>
        <p:txBody>
          <a:bodyPr/>
          <a:lstStyle/>
          <a:p>
            <a:r>
              <a:rPr lang="de-CH" dirty="0"/>
              <a:t>Der Datensatz - Übersicht</a:t>
            </a:r>
          </a:p>
        </p:txBody>
      </p:sp>
      <p:sp>
        <p:nvSpPr>
          <p:cNvPr id="3" name="Inhaltsplatzhalter 2">
            <a:extLst>
              <a:ext uri="{FF2B5EF4-FFF2-40B4-BE49-F238E27FC236}">
                <a16:creationId xmlns:a16="http://schemas.microsoft.com/office/drawing/2014/main" id="{8C062987-EB49-8F9E-8F1C-8F7911F4FE47}"/>
              </a:ext>
            </a:extLst>
          </p:cNvPr>
          <p:cNvSpPr>
            <a:spLocks noGrp="1"/>
          </p:cNvSpPr>
          <p:nvPr>
            <p:ph idx="1"/>
          </p:nvPr>
        </p:nvSpPr>
        <p:spPr>
          <a:xfrm>
            <a:off x="838200" y="1825625"/>
            <a:ext cx="5358319" cy="4351338"/>
          </a:xfrm>
        </p:spPr>
        <p:txBody>
          <a:bodyPr/>
          <a:lstStyle/>
          <a:p>
            <a:r>
              <a:rPr lang="de-CH" dirty="0"/>
              <a:t>Klassischer Ultra-Berglauf im Berner Oberland / Wallis</a:t>
            </a:r>
          </a:p>
          <a:p>
            <a:r>
              <a:rPr lang="de-CH" dirty="0"/>
              <a:t>Pro Sekunde jeweils ein Messwert verschiedener Sensoren</a:t>
            </a:r>
          </a:p>
          <a:p>
            <a:endParaRPr lang="de-CH" dirty="0"/>
          </a:p>
        </p:txBody>
      </p:sp>
      <p:pic>
        <p:nvPicPr>
          <p:cNvPr id="5" name="Grafik 4">
            <a:extLst>
              <a:ext uri="{FF2B5EF4-FFF2-40B4-BE49-F238E27FC236}">
                <a16:creationId xmlns:a16="http://schemas.microsoft.com/office/drawing/2014/main" id="{F7014BF0-026D-1F7E-087E-111988601161}"/>
              </a:ext>
            </a:extLst>
          </p:cNvPr>
          <p:cNvPicPr>
            <a:picLocks noChangeAspect="1"/>
          </p:cNvPicPr>
          <p:nvPr/>
        </p:nvPicPr>
        <p:blipFill>
          <a:blip r:embed="rId2"/>
          <a:stretch>
            <a:fillRect/>
          </a:stretch>
        </p:blipFill>
        <p:spPr>
          <a:xfrm>
            <a:off x="6476735" y="1825624"/>
            <a:ext cx="4877065" cy="4351337"/>
          </a:xfrm>
          <a:prstGeom prst="rect">
            <a:avLst/>
          </a:prstGeom>
        </p:spPr>
      </p:pic>
    </p:spTree>
    <p:extLst>
      <p:ext uri="{BB962C8B-B14F-4D97-AF65-F5344CB8AC3E}">
        <p14:creationId xmlns:p14="http://schemas.microsoft.com/office/powerpoint/2010/main" val="685709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5C1014-E73D-BE12-F440-65B79B8C7943}"/>
              </a:ext>
            </a:extLst>
          </p:cNvPr>
          <p:cNvSpPr>
            <a:spLocks noGrp="1"/>
          </p:cNvSpPr>
          <p:nvPr>
            <p:ph type="title"/>
          </p:nvPr>
        </p:nvSpPr>
        <p:spPr>
          <a:xfrm>
            <a:off x="838200" y="365125"/>
            <a:ext cx="10515600" cy="1020763"/>
          </a:xfrm>
        </p:spPr>
        <p:txBody>
          <a:bodyPr/>
          <a:lstStyle/>
          <a:p>
            <a:r>
              <a:rPr lang="de-CH" dirty="0"/>
              <a:t>Datenstruktur Trackingpoint</a:t>
            </a:r>
          </a:p>
        </p:txBody>
      </p:sp>
      <p:pic>
        <p:nvPicPr>
          <p:cNvPr id="5" name="Inhaltsplatzhalter 4">
            <a:extLst>
              <a:ext uri="{FF2B5EF4-FFF2-40B4-BE49-F238E27FC236}">
                <a16:creationId xmlns:a16="http://schemas.microsoft.com/office/drawing/2014/main" id="{801ADFA4-5B99-84C4-3FEB-6D7CA370DA95}"/>
              </a:ext>
            </a:extLst>
          </p:cNvPr>
          <p:cNvPicPr>
            <a:picLocks noGrp="1" noChangeAspect="1"/>
          </p:cNvPicPr>
          <p:nvPr>
            <p:ph idx="1"/>
          </p:nvPr>
        </p:nvPicPr>
        <p:blipFill>
          <a:blip r:embed="rId2"/>
          <a:stretch>
            <a:fillRect/>
          </a:stretch>
        </p:blipFill>
        <p:spPr>
          <a:xfrm>
            <a:off x="3188044" y="2270268"/>
            <a:ext cx="5011864" cy="2888783"/>
          </a:xfrm>
          <a:prstGeom prst="rect">
            <a:avLst/>
          </a:prstGeom>
        </p:spPr>
      </p:pic>
      <p:cxnSp>
        <p:nvCxnSpPr>
          <p:cNvPr id="4" name="Gerade Verbindung mit Pfeil 3">
            <a:extLst>
              <a:ext uri="{FF2B5EF4-FFF2-40B4-BE49-F238E27FC236}">
                <a16:creationId xmlns:a16="http://schemas.microsoft.com/office/drawing/2014/main" id="{E108C133-034A-593A-3074-24BD67223AFD}"/>
              </a:ext>
            </a:extLst>
          </p:cNvPr>
          <p:cNvCxnSpPr>
            <a:cxnSpLocks/>
          </p:cNvCxnSpPr>
          <p:nvPr/>
        </p:nvCxnSpPr>
        <p:spPr>
          <a:xfrm>
            <a:off x="4489622" y="1837038"/>
            <a:ext cx="560173" cy="43323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feld 6">
            <a:extLst>
              <a:ext uri="{FF2B5EF4-FFF2-40B4-BE49-F238E27FC236}">
                <a16:creationId xmlns:a16="http://schemas.microsoft.com/office/drawing/2014/main" id="{B8B96827-69F5-E6AB-FB90-24CD137F1EF5}"/>
              </a:ext>
            </a:extLst>
          </p:cNvPr>
          <p:cNvSpPr txBox="1"/>
          <p:nvPr/>
        </p:nvSpPr>
        <p:spPr>
          <a:xfrm>
            <a:off x="3723502" y="1426797"/>
            <a:ext cx="1408671" cy="369332"/>
          </a:xfrm>
          <a:prstGeom prst="rect">
            <a:avLst/>
          </a:prstGeom>
          <a:noFill/>
        </p:spPr>
        <p:txBody>
          <a:bodyPr wrap="square" rtlCol="0">
            <a:spAutoFit/>
          </a:bodyPr>
          <a:lstStyle/>
          <a:p>
            <a:r>
              <a:rPr lang="de-CH" dirty="0"/>
              <a:t>Koordinaten</a:t>
            </a:r>
          </a:p>
        </p:txBody>
      </p:sp>
      <p:sp>
        <p:nvSpPr>
          <p:cNvPr id="8" name="Textfeld 7">
            <a:extLst>
              <a:ext uri="{FF2B5EF4-FFF2-40B4-BE49-F238E27FC236}">
                <a16:creationId xmlns:a16="http://schemas.microsoft.com/office/drawing/2014/main" id="{9B886B58-491D-DF76-7305-8F03BCB6983E}"/>
              </a:ext>
            </a:extLst>
          </p:cNvPr>
          <p:cNvSpPr txBox="1"/>
          <p:nvPr/>
        </p:nvSpPr>
        <p:spPr>
          <a:xfrm>
            <a:off x="906161" y="2519393"/>
            <a:ext cx="1408671" cy="369332"/>
          </a:xfrm>
          <a:prstGeom prst="rect">
            <a:avLst/>
          </a:prstGeom>
          <a:noFill/>
        </p:spPr>
        <p:txBody>
          <a:bodyPr wrap="square" rtlCol="0">
            <a:spAutoFit/>
          </a:bodyPr>
          <a:lstStyle/>
          <a:p>
            <a:r>
              <a:rPr lang="de-CH" dirty="0"/>
              <a:t>Höhe</a:t>
            </a:r>
          </a:p>
        </p:txBody>
      </p:sp>
      <p:sp>
        <p:nvSpPr>
          <p:cNvPr id="9" name="Textfeld 8">
            <a:extLst>
              <a:ext uri="{FF2B5EF4-FFF2-40B4-BE49-F238E27FC236}">
                <a16:creationId xmlns:a16="http://schemas.microsoft.com/office/drawing/2014/main" id="{EAC23BF2-08DB-788B-25F5-DE163F976795}"/>
              </a:ext>
            </a:extLst>
          </p:cNvPr>
          <p:cNvSpPr txBox="1"/>
          <p:nvPr/>
        </p:nvSpPr>
        <p:spPr>
          <a:xfrm>
            <a:off x="9271686" y="3244334"/>
            <a:ext cx="1408671" cy="646331"/>
          </a:xfrm>
          <a:prstGeom prst="rect">
            <a:avLst/>
          </a:prstGeom>
          <a:noFill/>
        </p:spPr>
        <p:txBody>
          <a:bodyPr wrap="square" rtlCol="0">
            <a:spAutoFit/>
          </a:bodyPr>
          <a:lstStyle/>
          <a:p>
            <a:r>
              <a:rPr lang="de-CH" dirty="0"/>
              <a:t>Leistung </a:t>
            </a:r>
          </a:p>
          <a:p>
            <a:r>
              <a:rPr lang="de-CH" dirty="0"/>
              <a:t>(in Watt)</a:t>
            </a:r>
          </a:p>
        </p:txBody>
      </p:sp>
      <p:sp>
        <p:nvSpPr>
          <p:cNvPr id="10" name="Textfeld 9">
            <a:extLst>
              <a:ext uri="{FF2B5EF4-FFF2-40B4-BE49-F238E27FC236}">
                <a16:creationId xmlns:a16="http://schemas.microsoft.com/office/drawing/2014/main" id="{8A3F7A58-8464-D1E6-198C-4437694BB399}"/>
              </a:ext>
            </a:extLst>
          </p:cNvPr>
          <p:cNvSpPr txBox="1"/>
          <p:nvPr/>
        </p:nvSpPr>
        <p:spPr>
          <a:xfrm>
            <a:off x="315096" y="4022230"/>
            <a:ext cx="2294239" cy="646331"/>
          </a:xfrm>
          <a:prstGeom prst="rect">
            <a:avLst/>
          </a:prstGeom>
          <a:noFill/>
        </p:spPr>
        <p:txBody>
          <a:bodyPr wrap="square" rtlCol="0">
            <a:spAutoFit/>
          </a:bodyPr>
          <a:lstStyle/>
          <a:p>
            <a:r>
              <a:rPr lang="de-CH" dirty="0"/>
              <a:t>Herzfrequenz</a:t>
            </a:r>
          </a:p>
          <a:p>
            <a:r>
              <a:rPr lang="de-CH" dirty="0"/>
              <a:t>(Schläge pro Minute)</a:t>
            </a:r>
          </a:p>
        </p:txBody>
      </p:sp>
      <p:sp>
        <p:nvSpPr>
          <p:cNvPr id="11" name="Textfeld 10">
            <a:extLst>
              <a:ext uri="{FF2B5EF4-FFF2-40B4-BE49-F238E27FC236}">
                <a16:creationId xmlns:a16="http://schemas.microsoft.com/office/drawing/2014/main" id="{25C4417E-794D-CE34-2513-372F23427BDD}"/>
              </a:ext>
            </a:extLst>
          </p:cNvPr>
          <p:cNvSpPr txBox="1"/>
          <p:nvPr/>
        </p:nvSpPr>
        <p:spPr>
          <a:xfrm>
            <a:off x="9357325" y="4022230"/>
            <a:ext cx="2263348" cy="646331"/>
          </a:xfrm>
          <a:prstGeom prst="rect">
            <a:avLst/>
          </a:prstGeom>
          <a:noFill/>
        </p:spPr>
        <p:txBody>
          <a:bodyPr wrap="square" rtlCol="0">
            <a:spAutoFit/>
          </a:bodyPr>
          <a:lstStyle/>
          <a:p>
            <a:r>
              <a:rPr lang="de-CH" dirty="0"/>
              <a:t>Kadenz </a:t>
            </a:r>
          </a:p>
          <a:p>
            <a:r>
              <a:rPr lang="de-CH" dirty="0"/>
              <a:t>(Schritte pro Minute)</a:t>
            </a:r>
          </a:p>
        </p:txBody>
      </p:sp>
      <p:sp>
        <p:nvSpPr>
          <p:cNvPr id="12" name="Textfeld 11">
            <a:extLst>
              <a:ext uri="{FF2B5EF4-FFF2-40B4-BE49-F238E27FC236}">
                <a16:creationId xmlns:a16="http://schemas.microsoft.com/office/drawing/2014/main" id="{9D9780FE-416B-7D7A-9953-0C591FC83A71}"/>
              </a:ext>
            </a:extLst>
          </p:cNvPr>
          <p:cNvSpPr txBox="1"/>
          <p:nvPr/>
        </p:nvSpPr>
        <p:spPr>
          <a:xfrm>
            <a:off x="9271685" y="2334727"/>
            <a:ext cx="1408671" cy="369332"/>
          </a:xfrm>
          <a:prstGeom prst="rect">
            <a:avLst/>
          </a:prstGeom>
          <a:noFill/>
        </p:spPr>
        <p:txBody>
          <a:bodyPr wrap="square" rtlCol="0">
            <a:spAutoFit/>
          </a:bodyPr>
          <a:lstStyle/>
          <a:p>
            <a:r>
              <a:rPr lang="de-CH" dirty="0"/>
              <a:t>Zeitstempel</a:t>
            </a:r>
          </a:p>
        </p:txBody>
      </p:sp>
      <p:cxnSp>
        <p:nvCxnSpPr>
          <p:cNvPr id="13" name="Gerade Verbindung mit Pfeil 12">
            <a:extLst>
              <a:ext uri="{FF2B5EF4-FFF2-40B4-BE49-F238E27FC236}">
                <a16:creationId xmlns:a16="http://schemas.microsoft.com/office/drawing/2014/main" id="{CF0C9517-B24F-68B7-3511-1F1CEE71964B}"/>
              </a:ext>
            </a:extLst>
          </p:cNvPr>
          <p:cNvCxnSpPr>
            <a:cxnSpLocks/>
          </p:cNvCxnSpPr>
          <p:nvPr/>
        </p:nvCxnSpPr>
        <p:spPr>
          <a:xfrm>
            <a:off x="1676400" y="2704059"/>
            <a:ext cx="1626973"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Gerade Verbindung mit Pfeil 14">
            <a:extLst>
              <a:ext uri="{FF2B5EF4-FFF2-40B4-BE49-F238E27FC236}">
                <a16:creationId xmlns:a16="http://schemas.microsoft.com/office/drawing/2014/main" id="{0B14EA8E-38B2-B266-9704-DFE742C4388E}"/>
              </a:ext>
            </a:extLst>
          </p:cNvPr>
          <p:cNvCxnSpPr>
            <a:cxnSpLocks/>
          </p:cNvCxnSpPr>
          <p:nvPr/>
        </p:nvCxnSpPr>
        <p:spPr>
          <a:xfrm flipH="1">
            <a:off x="7455243" y="2519393"/>
            <a:ext cx="1721707" cy="36933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Gerade Verbindung mit Pfeil 18">
            <a:extLst>
              <a:ext uri="{FF2B5EF4-FFF2-40B4-BE49-F238E27FC236}">
                <a16:creationId xmlns:a16="http://schemas.microsoft.com/office/drawing/2014/main" id="{D4F5D3AE-8449-C7F6-D4B5-4C3236842464}"/>
              </a:ext>
            </a:extLst>
          </p:cNvPr>
          <p:cNvCxnSpPr>
            <a:cxnSpLocks/>
            <a:stCxn id="9" idx="1"/>
          </p:cNvCxnSpPr>
          <p:nvPr/>
        </p:nvCxnSpPr>
        <p:spPr>
          <a:xfrm flipH="1" flipV="1">
            <a:off x="5693976" y="3492843"/>
            <a:ext cx="3577710" cy="7465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Gerade Verbindung mit Pfeil 21">
            <a:extLst>
              <a:ext uri="{FF2B5EF4-FFF2-40B4-BE49-F238E27FC236}">
                <a16:creationId xmlns:a16="http://schemas.microsoft.com/office/drawing/2014/main" id="{33D2EB36-E505-8A4A-1191-96831225F89A}"/>
              </a:ext>
            </a:extLst>
          </p:cNvPr>
          <p:cNvCxnSpPr>
            <a:cxnSpLocks/>
          </p:cNvCxnSpPr>
          <p:nvPr/>
        </p:nvCxnSpPr>
        <p:spPr>
          <a:xfrm flipV="1">
            <a:off x="1869990" y="4022230"/>
            <a:ext cx="1655805" cy="28814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Gerade Verbindung mit Pfeil 23">
            <a:extLst>
              <a:ext uri="{FF2B5EF4-FFF2-40B4-BE49-F238E27FC236}">
                <a16:creationId xmlns:a16="http://schemas.microsoft.com/office/drawing/2014/main" id="{B91D33C8-6811-9F54-6EE2-2F6ECDB15BD7}"/>
              </a:ext>
            </a:extLst>
          </p:cNvPr>
          <p:cNvCxnSpPr>
            <a:cxnSpLocks/>
            <a:stCxn id="11" idx="1"/>
          </p:cNvCxnSpPr>
          <p:nvPr/>
        </p:nvCxnSpPr>
        <p:spPr>
          <a:xfrm flipH="1" flipV="1">
            <a:off x="6989762" y="4253656"/>
            <a:ext cx="2367563" cy="917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0233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DDEDB2-0C31-6B5F-5251-28458F9C89FE}"/>
              </a:ext>
            </a:extLst>
          </p:cNvPr>
          <p:cNvSpPr>
            <a:spLocks noGrp="1"/>
          </p:cNvSpPr>
          <p:nvPr>
            <p:ph type="title"/>
          </p:nvPr>
        </p:nvSpPr>
        <p:spPr/>
        <p:txBody>
          <a:bodyPr/>
          <a:lstStyle/>
          <a:p>
            <a:r>
              <a:rPr lang="de-CH" dirty="0"/>
              <a:t>Fragestellungen</a:t>
            </a:r>
          </a:p>
        </p:txBody>
      </p:sp>
      <p:sp>
        <p:nvSpPr>
          <p:cNvPr id="3" name="Inhaltsplatzhalter 2">
            <a:extLst>
              <a:ext uri="{FF2B5EF4-FFF2-40B4-BE49-F238E27FC236}">
                <a16:creationId xmlns:a16="http://schemas.microsoft.com/office/drawing/2014/main" id="{47103318-D492-B023-8615-B4352C6F2FCD}"/>
              </a:ext>
            </a:extLst>
          </p:cNvPr>
          <p:cNvSpPr>
            <a:spLocks noGrp="1"/>
          </p:cNvSpPr>
          <p:nvPr>
            <p:ph idx="1"/>
          </p:nvPr>
        </p:nvSpPr>
        <p:spPr/>
        <p:txBody>
          <a:bodyPr/>
          <a:lstStyle/>
          <a:p>
            <a:pPr marL="514350" indent="-514350">
              <a:buFont typeface="+mj-lt"/>
              <a:buAutoNum type="arabicPeriod"/>
            </a:pPr>
            <a:r>
              <a:rPr lang="de-CH" dirty="0"/>
              <a:t>Wie viele Zeit wurde in verschiedenen Bewegungsformen verbracht? (Laufen, Wandern, Pause)</a:t>
            </a:r>
          </a:p>
          <a:p>
            <a:pPr marL="514350" indent="-514350">
              <a:buFont typeface="+mj-lt"/>
              <a:buAutoNum type="arabicPeriod"/>
            </a:pPr>
            <a:r>
              <a:rPr lang="de-CH" dirty="0"/>
              <a:t>Wie viel Zeit wurde in verschiedenen Herzfrequenzbereichen verbracht? (z.B. nach 5 Zonensystem siehe Anhang)</a:t>
            </a:r>
          </a:p>
          <a:p>
            <a:pPr marL="514350" indent="-514350">
              <a:buFont typeface="+mj-lt"/>
              <a:buAutoNum type="arabicPeriod"/>
            </a:pPr>
            <a:r>
              <a:rPr lang="de-CH" dirty="0"/>
              <a:t>Wie kann der Datensatz in verschiedene logische Segmente aufgeteilt werden? (nach Höhenprofil)</a:t>
            </a:r>
          </a:p>
          <a:p>
            <a:pPr marL="514350" indent="-514350">
              <a:buFont typeface="+mj-lt"/>
              <a:buAutoNum type="arabicPeriod"/>
            </a:pPr>
            <a:r>
              <a:rPr lang="de-CH" dirty="0"/>
              <a:t>Wie können die Segmente aus Fragestellung 3 verfeinert werden?</a:t>
            </a:r>
          </a:p>
        </p:txBody>
      </p:sp>
    </p:spTree>
    <p:extLst>
      <p:ext uri="{BB962C8B-B14F-4D97-AF65-F5344CB8AC3E}">
        <p14:creationId xmlns:p14="http://schemas.microsoft.com/office/powerpoint/2010/main" val="3723133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DFE47-DA72-30C4-9A4A-97DEA23298F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E867B1-35C3-A2D0-E45A-D7478D5CA443}"/>
              </a:ext>
            </a:extLst>
          </p:cNvPr>
          <p:cNvSpPr>
            <a:spLocks noGrp="1"/>
          </p:cNvSpPr>
          <p:nvPr>
            <p:ph type="title"/>
          </p:nvPr>
        </p:nvSpPr>
        <p:spPr/>
        <p:txBody>
          <a:bodyPr/>
          <a:lstStyle/>
          <a:p>
            <a:r>
              <a:rPr lang="de-CH" dirty="0"/>
              <a:t>Alles klar?</a:t>
            </a:r>
          </a:p>
        </p:txBody>
      </p:sp>
      <p:sp>
        <p:nvSpPr>
          <p:cNvPr id="3" name="Inhaltsplatzhalter 2">
            <a:extLst>
              <a:ext uri="{FF2B5EF4-FFF2-40B4-BE49-F238E27FC236}">
                <a16:creationId xmlns:a16="http://schemas.microsoft.com/office/drawing/2014/main" id="{5A89BEC9-FEDE-224A-4DC7-338D83B208B5}"/>
              </a:ext>
            </a:extLst>
          </p:cNvPr>
          <p:cNvSpPr>
            <a:spLocks noGrp="1"/>
          </p:cNvSpPr>
          <p:nvPr>
            <p:ph idx="1"/>
          </p:nvPr>
        </p:nvSpPr>
        <p:spPr/>
        <p:txBody>
          <a:bodyPr/>
          <a:lstStyle/>
          <a:p>
            <a:pPr marL="0" indent="0">
              <a:buNone/>
            </a:pPr>
            <a:r>
              <a:rPr lang="de-CH" dirty="0"/>
              <a:t>Rückfragen gerne an </a:t>
            </a:r>
            <a:r>
              <a:rPr lang="de-CH" dirty="0">
                <a:hlinkClick r:id="rId2"/>
              </a:rPr>
              <a:t>alexander.vanschie@fhgr.ch</a:t>
            </a:r>
            <a:endParaRPr lang="de-CH" dirty="0"/>
          </a:p>
          <a:p>
            <a:pPr marL="0" indent="0">
              <a:buNone/>
            </a:pPr>
            <a:endParaRPr lang="de-CH" dirty="0"/>
          </a:p>
          <a:p>
            <a:pPr marL="0" indent="0">
              <a:buNone/>
            </a:pPr>
            <a:endParaRPr lang="de-CH" dirty="0"/>
          </a:p>
          <a:p>
            <a:pPr marL="0" indent="0">
              <a:buNone/>
            </a:pPr>
            <a:endParaRPr lang="de-CH" dirty="0"/>
          </a:p>
          <a:p>
            <a:pPr marL="0" indent="0">
              <a:buNone/>
            </a:pPr>
            <a:endParaRPr lang="de-CH" sz="4800" dirty="0"/>
          </a:p>
          <a:p>
            <a:pPr marL="0" indent="0">
              <a:buNone/>
            </a:pPr>
            <a:r>
              <a:rPr lang="de-CH" sz="4800" dirty="0"/>
              <a:t>Ansonsten gilt: Achtung, Fertig, Los!</a:t>
            </a:r>
          </a:p>
        </p:txBody>
      </p:sp>
    </p:spTree>
    <p:extLst>
      <p:ext uri="{BB962C8B-B14F-4D97-AF65-F5344CB8AC3E}">
        <p14:creationId xmlns:p14="http://schemas.microsoft.com/office/powerpoint/2010/main" val="3023589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0D5F7C-168B-3ADB-763C-2DE7CEAD2803}"/>
              </a:ext>
            </a:extLst>
          </p:cNvPr>
          <p:cNvSpPr>
            <a:spLocks noGrp="1"/>
          </p:cNvSpPr>
          <p:nvPr>
            <p:ph type="title"/>
          </p:nvPr>
        </p:nvSpPr>
        <p:spPr/>
        <p:txBody>
          <a:bodyPr/>
          <a:lstStyle/>
          <a:p>
            <a:r>
              <a:rPr lang="de-CH" dirty="0"/>
              <a:t>Anhang – Herzfrequenz 5 Zonensystem</a:t>
            </a:r>
          </a:p>
        </p:txBody>
      </p:sp>
      <p:pic>
        <p:nvPicPr>
          <p:cNvPr id="5" name="Inhaltsplatzhalter 4">
            <a:extLst>
              <a:ext uri="{FF2B5EF4-FFF2-40B4-BE49-F238E27FC236}">
                <a16:creationId xmlns:a16="http://schemas.microsoft.com/office/drawing/2014/main" id="{46E8F8C7-DD97-DCC1-0804-B2DB54D44CDC}"/>
              </a:ext>
            </a:extLst>
          </p:cNvPr>
          <p:cNvPicPr>
            <a:picLocks noGrp="1" noChangeAspect="1"/>
          </p:cNvPicPr>
          <p:nvPr>
            <p:ph idx="1"/>
          </p:nvPr>
        </p:nvPicPr>
        <p:blipFill>
          <a:blip r:embed="rId2"/>
          <a:stretch>
            <a:fillRect/>
          </a:stretch>
        </p:blipFill>
        <p:spPr>
          <a:xfrm>
            <a:off x="4533682" y="2142945"/>
            <a:ext cx="3124636" cy="2572109"/>
          </a:xfrm>
          <a:prstGeom prst="rect">
            <a:avLst/>
          </a:prstGeom>
        </p:spPr>
      </p:pic>
    </p:spTree>
    <p:extLst>
      <p:ext uri="{BB962C8B-B14F-4D97-AF65-F5344CB8AC3E}">
        <p14:creationId xmlns:p14="http://schemas.microsoft.com/office/powerpoint/2010/main" val="352395068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173</Words>
  <Application>Microsoft Office PowerPoint</Application>
  <PresentationFormat>Breitbild</PresentationFormat>
  <Paragraphs>33</Paragraphs>
  <Slides>7</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Aptos</vt:lpstr>
      <vt:lpstr>Aptos Display</vt:lpstr>
      <vt:lpstr>Arial</vt:lpstr>
      <vt:lpstr>Office</vt:lpstr>
      <vt:lpstr>Data Science im Spitzensport</vt:lpstr>
      <vt:lpstr>Was ist ein Ultramarathon?</vt:lpstr>
      <vt:lpstr>Der Datensatz - Übersicht</vt:lpstr>
      <vt:lpstr>Datenstruktur Trackingpoint</vt:lpstr>
      <vt:lpstr>Fragestellungen</vt:lpstr>
      <vt:lpstr>Alles klar?</vt:lpstr>
      <vt:lpstr>Anhang – Herzfrequenz 5 Zonensystem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 Schie Alexander</dc:creator>
  <cp:lastModifiedBy>van Schie Alexander</cp:lastModifiedBy>
  <cp:revision>4</cp:revision>
  <dcterms:created xsi:type="dcterms:W3CDTF">2025-11-11T15:51:34Z</dcterms:created>
  <dcterms:modified xsi:type="dcterms:W3CDTF">2025-11-13T07:28:08Z</dcterms:modified>
</cp:coreProperties>
</file>